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1C141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AFA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59E0B"/>
          </a:solidFill>
          <a:ln/>
        </p:spPr>
      </p:sp>
      <p:sp>
        <p:nvSpPr>
          <p:cNvPr id="3" name="Text 1"/>
          <p:cNvSpPr/>
          <p:nvPr/>
        </p:nvSpPr>
        <p:spPr>
          <a:xfrm>
            <a:off x="457200" y="1828800"/>
            <a:ext cx="8229600" cy="0"/>
          </a:xfrm>
          <a:prstGeom prst="rect">
            <a:avLst/>
          </a:prstGeom>
          <a:noFill/>
          <a:ln/>
        </p:spPr>
        <p:txBody>
          <a:bodyPr wrap="square" rtlCol="0" anchor="ctr"/>
          <a:lstStyle/>
          <a:p>
            <a:pPr indent="0" marL="0">
              <a:buNone/>
            </a:pPr>
            <a:r>
              <a:rPr lang="en-US" sz="5400" b="1" dirty="0">
                <a:solidFill>
                  <a:srgbClr val="FFFFFF"/>
                </a:solidFill>
                <a:latin typeface="Arial" pitchFamily="34" charset="0"/>
                <a:ea typeface="Arial" pitchFamily="34" charset="-122"/>
                <a:cs typeface="Arial" pitchFamily="34" charset="-120"/>
              </a:rPr>
              <a:t>Mindful Moments Journals</a:t>
            </a:r>
            <a:endParaRPr lang="en-US" sz="5400" dirty="0"/>
          </a:p>
        </p:txBody>
      </p:sp>
      <p:sp>
        <p:nvSpPr>
          <p:cNvPr id="4" name="Text 2"/>
          <p:cNvSpPr/>
          <p:nvPr/>
        </p:nvSpPr>
        <p:spPr>
          <a:xfrm>
            <a:off x="457200" y="2651760"/>
            <a:ext cx="8229600" cy="0"/>
          </a:xfrm>
          <a:prstGeom prst="rect">
            <a:avLst/>
          </a:prstGeom>
          <a:noFill/>
          <a:ln/>
        </p:spPr>
        <p:txBody>
          <a:bodyPr wrap="square" rtlCol="0" anchor="ctr"/>
          <a:lstStyle/>
          <a:p>
            <a:pPr indent="0" marL="0">
              <a:buNone/>
            </a:pPr>
            <a:r>
              <a:rPr lang="en-US" sz="2400" i="1" dirty="0">
                <a:solidFill>
                  <a:srgbClr val="F59E0B"/>
                </a:solidFill>
                <a:latin typeface="Arial" pitchFamily="34" charset="0"/>
                <a:ea typeface="Arial" pitchFamily="34" charset="-122"/>
                <a:cs typeface="Arial" pitchFamily="34" charset="-120"/>
              </a:rPr>
              <a:t>Beautifully designed wellness journals that guide daily mindfulness practice</a:t>
            </a:r>
            <a:endParaRPr lang="en-US" sz="2400" dirty="0"/>
          </a:p>
        </p:txBody>
      </p:sp>
      <p:sp>
        <p:nvSpPr>
          <p:cNvPr id="5" name="Text 3"/>
          <p:cNvSpPr/>
          <p:nvPr/>
        </p:nvSpPr>
        <p:spPr>
          <a:xfrm>
            <a:off x="457200" y="3931920"/>
            <a:ext cx="8229600" cy="0"/>
          </a:xfrm>
          <a:prstGeom prst="rect">
            <a:avLst/>
          </a:prstGeom>
          <a:noFill/>
          <a:ln/>
        </p:spPr>
        <p:txBody>
          <a:bodyPr wrap="square" rtlCol="0" anchor="ctr"/>
          <a:lstStyle/>
          <a:p>
            <a:pPr indent="0" marL="0">
              <a:buNone/>
            </a:pPr>
            <a:r>
              <a:rPr lang="en-US" sz="1600" dirty="0">
                <a:solidFill>
                  <a:srgbClr val="A8A8A8"/>
                </a:solidFill>
                <a:latin typeface="Arial" pitchFamily="34" charset="0"/>
                <a:ea typeface="Arial" pitchFamily="34" charset="-122"/>
                <a:cs typeface="Arial" pitchFamily="34" charset="-120"/>
              </a:rPr>
              <a:t>Business Launch Plan</a:t>
            </a:r>
            <a:endParaRPr lang="en-US" sz="1600" dirty="0"/>
          </a:p>
        </p:txBody>
      </p:sp>
      <p:sp>
        <p:nvSpPr>
          <p:cNvPr id="6" name="Text 4"/>
          <p:cNvSpPr/>
          <p:nvPr/>
        </p:nvSpPr>
        <p:spPr>
          <a:xfrm>
            <a:off x="457200" y="4297680"/>
            <a:ext cx="8229600" cy="0"/>
          </a:xfrm>
          <a:prstGeom prst="rect">
            <a:avLst/>
          </a:prstGeom>
          <a:noFill/>
          <a:ln/>
        </p:spPr>
        <p:txBody>
          <a:bodyPr wrap="square" rtlCol="0" anchor="ctr"/>
          <a:lstStyle/>
          <a:p>
            <a:pPr indent="0" marL="0">
              <a:buNone/>
            </a:pPr>
            <a:r>
              <a:rPr lang="en-US" sz="1400" dirty="0">
                <a:solidFill>
                  <a:srgbClr val="A8A8A8"/>
                </a:solidFill>
                <a:latin typeface="Arial" pitchFamily="34" charset="0"/>
                <a:ea typeface="Arial" pitchFamily="34" charset="-122"/>
                <a:cs typeface="Arial" pitchFamily="34" charset="-120"/>
              </a:rPr>
              <a:t>February 2026</a:t>
            </a:r>
            <a:endParaRPr lang="en-US" sz="1400" dirty="0"/>
          </a:p>
        </p:txBody>
      </p:sp>
      <p:sp>
        <p:nvSpPr>
          <p:cNvPr id="7" name="Shape 5"/>
          <p:cNvSpPr/>
          <p:nvPr/>
        </p:nvSpPr>
        <p:spPr>
          <a:xfrm rot="900000">
            <a:off x="7772400" y="4114800"/>
            <a:ext cx="1188720" cy="731520"/>
          </a:xfrm>
          <a:prstGeom prst="rect">
            <a:avLst/>
          </a:prstGeom>
          <a:solidFill>
            <a:srgbClr val="37415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74151"/>
          </a:solidFill>
          <a:ln/>
        </p:spPr>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800" b="1" dirty="0">
                <a:solidFill>
                  <a:srgbClr val="374151"/>
                </a:solidFill>
                <a:latin typeface="Arial" pitchFamily="34" charset="0"/>
                <a:ea typeface="Arial" pitchFamily="34" charset="-122"/>
                <a:cs typeface="Arial" pitchFamily="34" charset="-120"/>
              </a:rPr>
              <a:t>The Opportunity</a:t>
            </a:r>
            <a:endParaRPr lang="en-US" sz="2800" dirty="0"/>
          </a:p>
        </p:txBody>
      </p:sp>
      <p:sp>
        <p:nvSpPr>
          <p:cNvPr id="4" name="Text 2"/>
          <p:cNvSpPr/>
          <p:nvPr/>
        </p:nvSpPr>
        <p:spPr>
          <a:xfrm>
            <a:off x="457200" y="1097280"/>
            <a:ext cx="6858000" cy="0"/>
          </a:xfrm>
          <a:prstGeom prst="rect">
            <a:avLst/>
          </a:prstGeom>
          <a:noFill/>
          <a:ln/>
        </p:spPr>
        <p:txBody>
          <a:bodyPr wrap="square" rtlCol="0" anchor="ctr"/>
          <a:lstStyle/>
          <a:p>
            <a:pPr indent="0" marL="0">
              <a:buNone/>
            </a:pPr>
            <a:r>
              <a:rPr lang="en-US" sz="1400" b="1" dirty="0">
                <a:solidFill>
                  <a:srgbClr val="64748B"/>
                </a:solidFill>
                <a:latin typeface="Arial" pitchFamily="34" charset="0"/>
                <a:ea typeface="Arial" pitchFamily="34" charset="-122"/>
                <a:cs typeface="Arial" pitchFamily="34" charset="-120"/>
              </a:rPr>
              <a:t>The Problem</a:t>
            </a:r>
            <a:endParaRPr lang="en-US" sz="1400" dirty="0"/>
          </a:p>
        </p:txBody>
      </p:sp>
      <p:sp>
        <p:nvSpPr>
          <p:cNvPr id="5" name="Text 3"/>
          <p:cNvSpPr/>
          <p:nvPr/>
        </p:nvSpPr>
        <p:spPr>
          <a:xfrm>
            <a:off x="457200" y="1371600"/>
            <a:ext cx="5029200" cy="0"/>
          </a:xfrm>
          <a:prstGeom prst="rect">
            <a:avLst/>
          </a:prstGeom>
          <a:noFill/>
          <a:ln/>
        </p:spPr>
        <p:txBody>
          <a:bodyPr wrap="square" rtlCol="0" anchor="ctr"/>
          <a:lstStyle/>
          <a:p>
            <a:pPr indent="0" marL="0">
              <a:buNone/>
            </a:pPr>
            <a:r>
              <a:rPr lang="en-US" sz="1600" dirty="0">
                <a:solidFill>
                  <a:srgbClr val="1E293B"/>
                </a:solidFill>
                <a:latin typeface="Arial" pitchFamily="34" charset="0"/>
                <a:ea typeface="Arial" pitchFamily="34" charset="-122"/>
                <a:cs typeface="Arial" pitchFamily="34" charset="-120"/>
              </a:rPr>
              <a:t>People want to start mindfulness and wellness routines but don't know where to begin or how to stay consistent. Generic journals feel boring and don't provide the structure or inspiration needed to build lasting habits.</a:t>
            </a:r>
            <a:endParaRPr lang="en-US" sz="1600" dirty="0"/>
          </a:p>
        </p:txBody>
      </p:sp>
      <p:sp>
        <p:nvSpPr>
          <p:cNvPr id="6" name="Text 4"/>
          <p:cNvSpPr/>
          <p:nvPr/>
        </p:nvSpPr>
        <p:spPr>
          <a:xfrm>
            <a:off x="457200" y="2560320"/>
            <a:ext cx="6858000" cy="0"/>
          </a:xfrm>
          <a:prstGeom prst="rect">
            <a:avLst/>
          </a:prstGeom>
          <a:noFill/>
          <a:ln/>
        </p:spPr>
        <p:txBody>
          <a:bodyPr wrap="square" rtlCol="0" anchor="ctr"/>
          <a:lstStyle/>
          <a:p>
            <a:pPr indent="0" marL="0">
              <a:buNone/>
            </a:pPr>
            <a:r>
              <a:rPr lang="en-US" sz="1400" b="1" dirty="0">
                <a:solidFill>
                  <a:srgbClr val="64748B"/>
                </a:solidFill>
                <a:latin typeface="Arial" pitchFamily="34" charset="0"/>
                <a:ea typeface="Arial" pitchFamily="34" charset="-122"/>
                <a:cs typeface="Arial" pitchFamily="34" charset="-120"/>
              </a:rPr>
              <a:t>Target Audience</a:t>
            </a:r>
            <a:endParaRPr lang="en-US" sz="1400" dirty="0"/>
          </a:p>
        </p:txBody>
      </p:sp>
      <p:sp>
        <p:nvSpPr>
          <p:cNvPr id="7" name="Text 5"/>
          <p:cNvSpPr/>
          <p:nvPr/>
        </p:nvSpPr>
        <p:spPr>
          <a:xfrm>
            <a:off x="457200" y="2834640"/>
            <a:ext cx="5029200" cy="0"/>
          </a:xfrm>
          <a:prstGeom prst="rect">
            <a:avLst/>
          </a:prstGeom>
          <a:noFill/>
          <a:ln/>
        </p:spPr>
        <p:txBody>
          <a:bodyPr wrap="square" rtlCol="0" anchor="ctr"/>
          <a:lstStyle/>
          <a:p>
            <a:pPr indent="0" marL="0">
              <a:buNone/>
            </a:pPr>
            <a:r>
              <a:rPr lang="en-US" sz="1600" dirty="0">
                <a:solidFill>
                  <a:srgbClr val="1E293B"/>
                </a:solidFill>
                <a:latin typeface="Arial" pitchFamily="34" charset="0"/>
                <a:ea typeface="Arial" pitchFamily="34" charset="-122"/>
                <a:cs typeface="Arial" pitchFamily="34" charset="-120"/>
              </a:rPr>
              <a:t>Health-conscious millennials and Gen X professionals, primarily women aged 25-45, who want to reduce stress and improve mental well-being but struggle with consistency in wellness practices.</a:t>
            </a:r>
            <a:endParaRPr lang="en-US" sz="1600" dirty="0"/>
          </a:p>
        </p:txBody>
      </p:sp>
      <p:sp>
        <p:nvSpPr>
          <p:cNvPr id="8" name="Shape 6"/>
          <p:cNvSpPr/>
          <p:nvPr/>
        </p:nvSpPr>
        <p:spPr>
          <a:xfrm>
            <a:off x="5943600" y="1097280"/>
            <a:ext cx="2743200" cy="1371600"/>
          </a:xfrm>
          <a:prstGeom prst="roundRect">
            <a:avLst>
              <a:gd name="adj" fmla="val 6667"/>
            </a:avLst>
          </a:prstGeom>
          <a:solidFill>
            <a:srgbClr val="374151"/>
          </a:solidFill>
          <a:ln/>
        </p:spPr>
      </p:sp>
      <p:sp>
        <p:nvSpPr>
          <p:cNvPr id="9" name="Text 7"/>
          <p:cNvSpPr/>
          <p:nvPr/>
        </p:nvSpPr>
        <p:spPr>
          <a:xfrm>
            <a:off x="5943600" y="1188720"/>
            <a:ext cx="2743200" cy="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TAM</a:t>
            </a:r>
            <a:endParaRPr lang="en-US" sz="1200" dirty="0"/>
          </a:p>
        </p:txBody>
      </p:sp>
      <p:sp>
        <p:nvSpPr>
          <p:cNvPr id="10" name="Text 8"/>
          <p:cNvSpPr/>
          <p:nvPr/>
        </p:nvSpPr>
        <p:spPr>
          <a:xfrm>
            <a:off x="5943600" y="1554480"/>
            <a:ext cx="2743200" cy="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$17.1 billion wellness products market by 2035</a:t>
            </a:r>
            <a:endParaRPr lang="en-US" sz="2800" dirty="0"/>
          </a:p>
        </p:txBody>
      </p:sp>
      <p:sp>
        <p:nvSpPr>
          <p:cNvPr id="11" name="Shape 9"/>
          <p:cNvSpPr/>
          <p:nvPr/>
        </p:nvSpPr>
        <p:spPr>
          <a:xfrm>
            <a:off x="5943600" y="2651760"/>
            <a:ext cx="1280160" cy="1097280"/>
          </a:xfrm>
          <a:prstGeom prst="roundRect">
            <a:avLst>
              <a:gd name="adj" fmla="val 8333"/>
            </a:avLst>
          </a:prstGeom>
          <a:solidFill>
            <a:srgbClr val="4B5563"/>
          </a:solidFill>
          <a:ln/>
        </p:spPr>
      </p:sp>
      <p:sp>
        <p:nvSpPr>
          <p:cNvPr id="12" name="Text 10"/>
          <p:cNvSpPr/>
          <p:nvPr/>
        </p:nvSpPr>
        <p:spPr>
          <a:xfrm>
            <a:off x="5943600" y="2743200"/>
            <a:ext cx="1280160" cy="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SAM
</a:t>
            </a:r>
            <a:pPr algn="ctr" indent="0" marL="0">
              <a:buNone/>
            </a:pPr>
            <a:r>
              <a:rPr lang="en-US" sz="1600" b="1" dirty="0">
                <a:solidFill>
                  <a:srgbClr val="FFFFFF"/>
                </a:solidFill>
                <a:latin typeface="Arial" pitchFamily="34" charset="0"/>
                <a:ea typeface="Arial" pitchFamily="34" charset="-122"/>
                <a:cs typeface="Arial" pitchFamily="34" charset="-120"/>
              </a:rPr>
              <a:t>$1.2 trillion US wellness market growing 7% annually</a:t>
            </a:r>
            <a:endParaRPr lang="en-US" sz="1000" dirty="0"/>
          </a:p>
        </p:txBody>
      </p:sp>
      <p:sp>
        <p:nvSpPr>
          <p:cNvPr id="13" name="Shape 11"/>
          <p:cNvSpPr/>
          <p:nvPr/>
        </p:nvSpPr>
        <p:spPr>
          <a:xfrm>
            <a:off x="7406640" y="2651760"/>
            <a:ext cx="1280160" cy="1097280"/>
          </a:xfrm>
          <a:prstGeom prst="roundRect">
            <a:avLst>
              <a:gd name="adj" fmla="val 8333"/>
            </a:avLst>
          </a:prstGeom>
          <a:solidFill>
            <a:srgbClr val="D1D5DB"/>
          </a:solidFill>
          <a:ln/>
        </p:spPr>
      </p:sp>
      <p:sp>
        <p:nvSpPr>
          <p:cNvPr id="14" name="Text 12"/>
          <p:cNvSpPr/>
          <p:nvPr/>
        </p:nvSpPr>
        <p:spPr>
          <a:xfrm>
            <a:off x="7406640" y="2743200"/>
            <a:ext cx="1280160" cy="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SOM
</a:t>
            </a:r>
            <a:pPr algn="ctr" indent="0" marL="0">
              <a:buNone/>
            </a:pPr>
            <a:r>
              <a:rPr lang="en-US" sz="1600" b="1" dirty="0">
                <a:solidFill>
                  <a:srgbClr val="1E293B"/>
                </a:solidFill>
                <a:latin typeface="Arial" pitchFamily="34" charset="0"/>
                <a:ea typeface="Arial" pitchFamily="34" charset="-122"/>
                <a:cs typeface="Arial" pitchFamily="34" charset="-120"/>
              </a:rPr>
              <a:t>$50K-100K Cincinnati metro wellness consumers based on population</a:t>
            </a:r>
            <a:endParaRPr lang="en-US" sz="1000" dirty="0"/>
          </a:p>
        </p:txBody>
      </p:sp>
      <p:sp>
        <p:nvSpPr>
          <p:cNvPr id="15" name="Text 13"/>
          <p:cNvSpPr/>
          <p:nvPr/>
        </p:nvSpPr>
        <p:spPr>
          <a:xfrm>
            <a:off x="5943600" y="3931920"/>
            <a:ext cx="2743200" cy="0"/>
          </a:xfrm>
          <a:prstGeom prst="rect">
            <a:avLst/>
          </a:prstGeom>
          <a:noFill/>
          <a:ln/>
        </p:spPr>
        <p:txBody>
          <a:bodyPr wrap="square" rtlCol="0" anchor="ctr"/>
          <a:lstStyle/>
          <a:p>
            <a:pPr indent="0" marL="0">
              <a:buNone/>
            </a:pPr>
            <a:r>
              <a:rPr lang="en-US" sz="1400" b="1" dirty="0">
                <a:solidFill>
                  <a:srgbClr val="374151"/>
                </a:solidFill>
                <a:latin typeface="Arial" pitchFamily="34" charset="0"/>
                <a:ea typeface="Arial" pitchFamily="34" charset="-122"/>
                <a:cs typeface="Arial" pitchFamily="34" charset="-120"/>
              </a:rPr>
              <a:t>Industry Growth: 8.2% annually for wellness products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74151"/>
          </a:solidFill>
          <a:ln/>
        </p:spPr>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800" b="1" dirty="0">
                <a:solidFill>
                  <a:srgbClr val="374151"/>
                </a:solidFill>
                <a:latin typeface="Arial" pitchFamily="34" charset="0"/>
                <a:ea typeface="Arial" pitchFamily="34" charset="-122"/>
                <a:cs typeface="Arial" pitchFamily="34" charset="-120"/>
              </a:rPr>
              <a:t>The Solution</a:t>
            </a:r>
            <a:endParaRPr lang="en-US" sz="2800" dirty="0"/>
          </a:p>
        </p:txBody>
      </p:sp>
      <p:sp>
        <p:nvSpPr>
          <p:cNvPr id="4" name="Text 2"/>
          <p:cNvSpPr/>
          <p:nvPr/>
        </p:nvSpPr>
        <p:spPr>
          <a:xfrm>
            <a:off x="457200" y="1097280"/>
            <a:ext cx="6858000" cy="0"/>
          </a:xfrm>
          <a:prstGeom prst="rect">
            <a:avLst/>
          </a:prstGeom>
          <a:noFill/>
          <a:ln/>
        </p:spPr>
        <p:txBody>
          <a:bodyPr wrap="square" rtlCol="0" anchor="ctr"/>
          <a:lstStyle/>
          <a:p>
            <a:pPr indent="0" marL="0">
              <a:buNone/>
            </a:pPr>
            <a:r>
              <a:rPr lang="en-US" sz="1400" b="1" dirty="0">
                <a:solidFill>
                  <a:srgbClr val="64748B"/>
                </a:solidFill>
                <a:latin typeface="Arial" pitchFamily="34" charset="0"/>
                <a:ea typeface="Arial" pitchFamily="34" charset="-122"/>
                <a:cs typeface="Arial" pitchFamily="34" charset="-120"/>
              </a:rPr>
              <a:t>What We Do</a:t>
            </a:r>
            <a:endParaRPr lang="en-US" sz="1400" dirty="0"/>
          </a:p>
        </p:txBody>
      </p:sp>
      <p:sp>
        <p:nvSpPr>
          <p:cNvPr id="5" name="Text 3"/>
          <p:cNvSpPr/>
          <p:nvPr/>
        </p:nvSpPr>
        <p:spPr>
          <a:xfrm>
            <a:off x="457200" y="1371600"/>
            <a:ext cx="8229600" cy="0"/>
          </a:xfrm>
          <a:prstGeom prst="rect">
            <a:avLst/>
          </a:prstGeom>
          <a:noFill/>
          <a:ln/>
        </p:spPr>
        <p:txBody>
          <a:bodyPr wrap="square" rtlCol="0" anchor="ctr"/>
          <a:lstStyle/>
          <a:p>
            <a:pPr indent="0" marL="0">
              <a:buNone/>
            </a:pPr>
            <a:r>
              <a:rPr lang="en-US" sz="1400" dirty="0">
                <a:solidFill>
                  <a:srgbClr val="1E293B"/>
                </a:solidFill>
                <a:latin typeface="Arial" pitchFamily="34" charset="0"/>
                <a:ea typeface="Arial" pitchFamily="34" charset="-122"/>
                <a:cs typeface="Arial" pitchFamily="34" charset="-120"/>
              </a:rPr>
              <a:t>Create beautifully designed physical wellness journals with guided prompts, habit trackers, and mindfulness exercises. Each journal focuses on a specific theme (gratitude, stress relief, morning routines) with 90 days of structured content.</a:t>
            </a:r>
            <a:endParaRPr lang="en-US" sz="1400" dirty="0"/>
          </a:p>
        </p:txBody>
      </p:sp>
      <p:sp>
        <p:nvSpPr>
          <p:cNvPr id="6" name="Text 4"/>
          <p:cNvSpPr/>
          <p:nvPr/>
        </p:nvSpPr>
        <p:spPr>
          <a:xfrm>
            <a:off x="457200" y="2286000"/>
            <a:ext cx="6858000" cy="0"/>
          </a:xfrm>
          <a:prstGeom prst="rect">
            <a:avLst/>
          </a:prstGeom>
          <a:noFill/>
          <a:ln/>
        </p:spPr>
        <p:txBody>
          <a:bodyPr wrap="square" rtlCol="0" anchor="ctr"/>
          <a:lstStyle/>
          <a:p>
            <a:pPr indent="0" marL="0">
              <a:buNone/>
            </a:pPr>
            <a:r>
              <a:rPr lang="en-US" sz="1400" b="1" dirty="0">
                <a:solidFill>
                  <a:srgbClr val="64748B"/>
                </a:solidFill>
                <a:latin typeface="Arial" pitchFamily="34" charset="0"/>
                <a:ea typeface="Arial" pitchFamily="34" charset="-122"/>
                <a:cs typeface="Arial" pitchFamily="34" charset="-120"/>
              </a:rPr>
              <a:t>What Makes Us Different</a:t>
            </a:r>
            <a:endParaRPr lang="en-US" sz="1400" dirty="0"/>
          </a:p>
        </p:txBody>
      </p:sp>
      <p:sp>
        <p:nvSpPr>
          <p:cNvPr id="7" name="Text 5"/>
          <p:cNvSpPr/>
          <p:nvPr/>
        </p:nvSpPr>
        <p:spPr>
          <a:xfrm>
            <a:off x="457200" y="2560320"/>
            <a:ext cx="8229600" cy="0"/>
          </a:xfrm>
          <a:prstGeom prst="rect">
            <a:avLst/>
          </a:prstGeom>
          <a:noFill/>
          <a:ln/>
        </p:spPr>
        <p:txBody>
          <a:bodyPr wrap="square" rtlCol="0" anchor="ctr"/>
          <a:lstStyle/>
          <a:p>
            <a:pPr indent="0" marL="0">
              <a:buNone/>
            </a:pPr>
            <a:r>
              <a:rPr lang="en-US" sz="1400" dirty="0">
                <a:solidFill>
                  <a:srgbClr val="1E293B"/>
                </a:solidFill>
                <a:latin typeface="Arial" pitchFamily="34" charset="0"/>
                <a:ea typeface="Arial" pitchFamily="34" charset="-122"/>
                <a:cs typeface="Arial" pitchFamily="34" charset="-120"/>
              </a:rPr>
              <a:t>Your design skills create visually stunning products that stand out from generic wellness journals, while your marketing expertise builds authentic brand connection.</a:t>
            </a:r>
            <a:endParaRPr lang="en-US" sz="1400" dirty="0"/>
          </a:p>
        </p:txBody>
      </p:sp>
      <p:sp>
        <p:nvSpPr>
          <p:cNvPr id="8" name="Shape 6"/>
          <p:cNvSpPr/>
          <p:nvPr/>
        </p:nvSpPr>
        <p:spPr>
          <a:xfrm>
            <a:off x="457200" y="3200400"/>
            <a:ext cx="2743200" cy="1371600"/>
          </a:xfrm>
          <a:prstGeom prst="roundRect">
            <a:avLst>
              <a:gd name="adj" fmla="val 6667"/>
            </a:avLst>
          </a:prstGeom>
          <a:solidFill>
            <a:srgbClr val="FFFFFF"/>
          </a:solidFill>
          <a:ln w="25400">
            <a:solidFill>
              <a:srgbClr val="D1D5DB"/>
            </a:solidFill>
            <a:prstDash val="solid"/>
          </a:ln>
        </p:spPr>
      </p:sp>
      <p:sp>
        <p:nvSpPr>
          <p:cNvPr id="9" name="Shape 7"/>
          <p:cNvSpPr/>
          <p:nvPr/>
        </p:nvSpPr>
        <p:spPr>
          <a:xfrm>
            <a:off x="548640" y="3291840"/>
            <a:ext cx="365760" cy="365760"/>
          </a:xfrm>
          <a:prstGeom prst="ellipse">
            <a:avLst/>
          </a:prstGeom>
          <a:solidFill>
            <a:srgbClr val="374151"/>
          </a:solidFill>
          <a:ln/>
        </p:spPr>
      </p:sp>
      <p:sp>
        <p:nvSpPr>
          <p:cNvPr id="10" name="Text 8"/>
          <p:cNvSpPr/>
          <p:nvPr/>
        </p:nvSpPr>
        <p:spPr>
          <a:xfrm>
            <a:off x="548640" y="3337560"/>
            <a:ext cx="365760" cy="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9"/>
          <p:cNvSpPr/>
          <p:nvPr/>
        </p:nvSpPr>
        <p:spPr>
          <a:xfrm>
            <a:off x="1005840" y="3291840"/>
            <a:ext cx="2103120" cy="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Science-Backed Prompts</a:t>
            </a:r>
            <a:endParaRPr lang="en-US" sz="1200" dirty="0"/>
          </a:p>
        </p:txBody>
      </p:sp>
      <p:sp>
        <p:nvSpPr>
          <p:cNvPr id="12" name="Text 10"/>
          <p:cNvSpPr/>
          <p:nvPr/>
        </p:nvSpPr>
        <p:spPr>
          <a:xfrm>
            <a:off x="548640" y="3749040"/>
            <a:ext cx="2560320" cy="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Every page features research-proven mindfulness exercises that reduce anxiety and boost focus in jus...</a:t>
            </a:r>
            <a:endParaRPr lang="en-US" sz="1000" dirty="0"/>
          </a:p>
        </p:txBody>
      </p:sp>
      <p:sp>
        <p:nvSpPr>
          <p:cNvPr id="13" name="Shape 11"/>
          <p:cNvSpPr/>
          <p:nvPr/>
        </p:nvSpPr>
        <p:spPr>
          <a:xfrm>
            <a:off x="3383280" y="3200400"/>
            <a:ext cx="2743200" cy="1371600"/>
          </a:xfrm>
          <a:prstGeom prst="roundRect">
            <a:avLst>
              <a:gd name="adj" fmla="val 6667"/>
            </a:avLst>
          </a:prstGeom>
          <a:solidFill>
            <a:srgbClr val="FFFFFF"/>
          </a:solidFill>
          <a:ln w="25400">
            <a:solidFill>
              <a:srgbClr val="D1D5DB"/>
            </a:solidFill>
            <a:prstDash val="solid"/>
          </a:ln>
        </p:spPr>
      </p:sp>
      <p:sp>
        <p:nvSpPr>
          <p:cNvPr id="14" name="Shape 12"/>
          <p:cNvSpPr/>
          <p:nvPr/>
        </p:nvSpPr>
        <p:spPr>
          <a:xfrm>
            <a:off x="3474720" y="3291840"/>
            <a:ext cx="365760" cy="365760"/>
          </a:xfrm>
          <a:prstGeom prst="ellipse">
            <a:avLst/>
          </a:prstGeom>
          <a:solidFill>
            <a:srgbClr val="374151"/>
          </a:solidFill>
          <a:ln/>
        </p:spPr>
      </p:sp>
      <p:sp>
        <p:nvSpPr>
          <p:cNvPr id="15" name="Text 13"/>
          <p:cNvSpPr/>
          <p:nvPr/>
        </p:nvSpPr>
        <p:spPr>
          <a:xfrm>
            <a:off x="3474720" y="3337560"/>
            <a:ext cx="365760" cy="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p:nvPr/>
        </p:nvSpPr>
        <p:spPr>
          <a:xfrm>
            <a:off x="3931920" y="3291840"/>
            <a:ext cx="2103120" cy="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Gorgeous Design</a:t>
            </a:r>
            <a:endParaRPr lang="en-US" sz="1200" dirty="0"/>
          </a:p>
        </p:txBody>
      </p:sp>
      <p:sp>
        <p:nvSpPr>
          <p:cNvPr id="17" name="Text 15"/>
          <p:cNvSpPr/>
          <p:nvPr/>
        </p:nvSpPr>
        <p:spPr>
          <a:xfrm>
            <a:off x="3474720" y="3749040"/>
            <a:ext cx="2560320" cy="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Premium paper and elegant layouts make journaling something you'll actually look forward to every mo...</a:t>
            </a:r>
            <a:endParaRPr lang="en-US" sz="1000" dirty="0"/>
          </a:p>
        </p:txBody>
      </p:sp>
      <p:sp>
        <p:nvSpPr>
          <p:cNvPr id="18" name="Shape 16"/>
          <p:cNvSpPr/>
          <p:nvPr/>
        </p:nvSpPr>
        <p:spPr>
          <a:xfrm>
            <a:off x="6309360" y="3200400"/>
            <a:ext cx="2743200" cy="1371600"/>
          </a:xfrm>
          <a:prstGeom prst="roundRect">
            <a:avLst>
              <a:gd name="adj" fmla="val 6667"/>
            </a:avLst>
          </a:prstGeom>
          <a:solidFill>
            <a:srgbClr val="FFFFFF"/>
          </a:solidFill>
          <a:ln w="25400">
            <a:solidFill>
              <a:srgbClr val="D1D5DB"/>
            </a:solidFill>
            <a:prstDash val="solid"/>
          </a:ln>
        </p:spPr>
      </p:sp>
      <p:sp>
        <p:nvSpPr>
          <p:cNvPr id="19" name="Shape 17"/>
          <p:cNvSpPr/>
          <p:nvPr/>
        </p:nvSpPr>
        <p:spPr>
          <a:xfrm>
            <a:off x="6400800" y="3291840"/>
            <a:ext cx="365760" cy="365760"/>
          </a:xfrm>
          <a:prstGeom prst="ellipse">
            <a:avLst/>
          </a:prstGeom>
          <a:solidFill>
            <a:srgbClr val="374151"/>
          </a:solidFill>
          <a:ln/>
        </p:spPr>
      </p:sp>
      <p:sp>
        <p:nvSpPr>
          <p:cNvPr id="20" name="Text 18"/>
          <p:cNvSpPr/>
          <p:nvPr/>
        </p:nvSpPr>
        <p:spPr>
          <a:xfrm>
            <a:off x="6400800" y="3337560"/>
            <a:ext cx="365760" cy="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6858000" y="3291840"/>
            <a:ext cx="2103120" cy="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Habit Building</a:t>
            </a:r>
            <a:endParaRPr lang="en-US" sz="1200" dirty="0"/>
          </a:p>
        </p:txBody>
      </p:sp>
      <p:sp>
        <p:nvSpPr>
          <p:cNvPr id="22" name="Text 20"/>
          <p:cNvSpPr/>
          <p:nvPr/>
        </p:nvSpPr>
        <p:spPr>
          <a:xfrm>
            <a:off x="6400800" y="3749040"/>
            <a:ext cx="2560320" cy="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Structured 90-day format with progress tracking helps you build a sustainable mindfulness practice 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74151"/>
          </a:solidFill>
          <a:ln/>
        </p:spPr>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800" b="1" dirty="0">
                <a:solidFill>
                  <a:srgbClr val="374151"/>
                </a:solidFill>
                <a:latin typeface="Arial" pitchFamily="34" charset="0"/>
                <a:ea typeface="Arial" pitchFamily="34" charset="-122"/>
                <a:cs typeface="Arial" pitchFamily="34" charset="-120"/>
              </a:rPr>
              <a:t>Market Validation</a:t>
            </a:r>
            <a:endParaRPr lang="en-US" sz="2800" dirty="0"/>
          </a:p>
        </p:txBody>
      </p:sp>
      <p:sp>
        <p:nvSpPr>
          <p:cNvPr id="4" name="Shape 2"/>
          <p:cNvSpPr/>
          <p:nvPr/>
        </p:nvSpPr>
        <p:spPr>
          <a:xfrm>
            <a:off x="457200" y="1371600"/>
            <a:ext cx="1828800" cy="1828800"/>
          </a:xfrm>
          <a:prstGeom prst="ellipse">
            <a:avLst/>
          </a:prstGeom>
          <a:solidFill>
            <a:srgbClr val="CA8A04"/>
          </a:solidFill>
          <a:ln/>
        </p:spPr>
      </p:sp>
      <p:sp>
        <p:nvSpPr>
          <p:cNvPr id="5" name="Text 3"/>
          <p:cNvSpPr/>
          <p:nvPr/>
        </p:nvSpPr>
        <p:spPr>
          <a:xfrm>
            <a:off x="457200" y="1645920"/>
            <a:ext cx="1828800" cy="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74</a:t>
            </a:r>
            <a:endParaRPr lang="en-US" sz="4800" dirty="0"/>
          </a:p>
        </p:txBody>
      </p:sp>
      <p:sp>
        <p:nvSpPr>
          <p:cNvPr id="6" name="Text 4"/>
          <p:cNvSpPr/>
          <p:nvPr/>
        </p:nvSpPr>
        <p:spPr>
          <a:xfrm>
            <a:off x="457200" y="2377440"/>
            <a:ext cx="1828800" cy="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/100</a:t>
            </a:r>
            <a:endParaRPr lang="en-US" sz="1400" dirty="0"/>
          </a:p>
        </p:txBody>
      </p:sp>
      <p:sp>
        <p:nvSpPr>
          <p:cNvPr id="7" name="Text 5"/>
          <p:cNvSpPr/>
          <p:nvPr/>
        </p:nvSpPr>
        <p:spPr>
          <a:xfrm>
            <a:off x="457200" y="3291840"/>
            <a:ext cx="1828800" cy="0"/>
          </a:xfrm>
          <a:prstGeom prst="rect">
            <a:avLst/>
          </a:prstGeom>
          <a:noFill/>
          <a:ln/>
        </p:spPr>
        <p:txBody>
          <a:bodyPr wrap="square" rtlCol="0" anchor="ctr"/>
          <a:lstStyle/>
          <a:p>
            <a:pPr algn="ctr" indent="0" marL="0">
              <a:buNone/>
            </a:pPr>
            <a:r>
              <a:rPr lang="en-US" sz="1200" b="1" dirty="0">
                <a:solidFill>
                  <a:srgbClr val="1E293B"/>
                </a:solidFill>
                <a:latin typeface="Arial" pitchFamily="34" charset="0"/>
                <a:ea typeface="Arial" pitchFamily="34" charset="-122"/>
                <a:cs typeface="Arial" pitchFamily="34" charset="-120"/>
              </a:rPr>
              <a:t>Viability Score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0" y="1188720"/>
          <a:ext cx="5943600" cy="914400"/>
        </p:xfrm>
        <a:graphic>
          <a:graphicData uri="http://schemas.openxmlformats.org/drawingml/2006/table">
            <a:tbl>
              <a:tblPr/>
              <a:tblGrid>
                <a:gridCol w="1371600"/>
                <a:gridCol w="731520"/>
                <a:gridCol w="384048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Factor</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Score</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Assessment</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Market Demand</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E293B"/>
                          </a:solidFill>
                          <a:latin typeface="Arial" pitchFamily="34" charset="0"/>
                          <a:ea typeface="Arial" pitchFamily="34" charset="-122"/>
                          <a:cs typeface="Arial" pitchFamily="34" charset="-120"/>
                        </a:rPr>
                        <a:t>82/100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Growing wellness market, 8.2% CAGR through 2035, s...</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Competition</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E293B"/>
                          </a:solidFill>
                          <a:latin typeface="Arial" pitchFamily="34" charset="0"/>
                          <a:ea typeface="Arial" pitchFamily="34" charset="-122"/>
                          <a:cs typeface="Arial" pitchFamily="34" charset="-120"/>
                        </a:rPr>
                        <a:t>65/100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Five Minute Journal dominates, but gap in beautifu...</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Startup Feasibility</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E293B"/>
                          </a:solidFill>
                          <a:latin typeface="Arial" pitchFamily="34" charset="0"/>
                          <a:ea typeface="Arial" pitchFamily="34" charset="-122"/>
                          <a:cs typeface="Arial" pitchFamily="34" charset="-120"/>
                        </a:rPr>
                        <a:t>78/100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High budget allows quality printing and marketing ...</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Revenue Potential</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E293B"/>
                          </a:solidFill>
                          <a:latin typeface="Arial" pitchFamily="34" charset="0"/>
                          <a:ea typeface="Arial" pitchFamily="34" charset="-122"/>
                          <a:cs typeface="Arial" pitchFamily="34" charset="-120"/>
                        </a:rPr>
                        <a:t>70/100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$2K-5K/month realistic within 12 months given week...</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Timing</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000" dirty="0">
                          <a:solidFill>
                            <a:srgbClr val="1E293B"/>
                          </a:solidFill>
                          <a:latin typeface="Arial" pitchFamily="34" charset="0"/>
                          <a:ea typeface="Arial" pitchFamily="34" charset="-122"/>
                          <a:cs typeface="Arial" pitchFamily="34" charset="-120"/>
                        </a:rPr>
                        <a:t>80/100</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62% professionals report rising demand for longevi...</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9" name="Text 6"/>
          <p:cNvSpPr/>
          <p:nvPr/>
        </p:nvSpPr>
        <p:spPr>
          <a:xfrm>
            <a:off x="2743200" y="3474720"/>
            <a:ext cx="6858000" cy="0"/>
          </a:xfrm>
          <a:prstGeom prst="rect">
            <a:avLst/>
          </a:prstGeom>
          <a:noFill/>
          <a:ln/>
        </p:spPr>
        <p:txBody>
          <a:bodyPr wrap="square" rtlCol="0" anchor="ctr"/>
          <a:lstStyle/>
          <a:p>
            <a:pPr indent="0" marL="0">
              <a:buNone/>
            </a:pPr>
            <a:r>
              <a:rPr lang="en-US" sz="1200" b="1" dirty="0">
                <a:solidFill>
                  <a:srgbClr val="64748B"/>
                </a:solidFill>
                <a:latin typeface="Arial" pitchFamily="34" charset="0"/>
                <a:ea typeface="Arial" pitchFamily="34" charset="-122"/>
                <a:cs typeface="Arial" pitchFamily="34" charset="-120"/>
              </a:rPr>
              <a:t>Key Market Trends</a:t>
            </a:r>
            <a:endParaRPr lang="en-US" sz="1200" dirty="0"/>
          </a:p>
        </p:txBody>
      </p:sp>
      <p:sp>
        <p:nvSpPr>
          <p:cNvPr id="10" name="Text 7"/>
          <p:cNvSpPr/>
          <p:nvPr/>
        </p:nvSpPr>
        <p:spPr>
          <a:xfrm>
            <a:off x="2743200" y="3749040"/>
            <a:ext cx="5943600" cy="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 Science-backed wellness over aesthetics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Analog companions to digital wellness tracking</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Mental health prioritization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74151"/>
          </a:solidFill>
          <a:ln/>
        </p:spPr>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800" b="1" dirty="0">
                <a:solidFill>
                  <a:srgbClr val="374151"/>
                </a:solidFill>
                <a:latin typeface="Arial" pitchFamily="34" charset="0"/>
                <a:ea typeface="Arial" pitchFamily="34" charset="-122"/>
                <a:cs typeface="Arial" pitchFamily="34" charset="-120"/>
              </a:rPr>
              <a:t>Competitive Landscape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1371600"/>
                <a:gridCol w="2514600"/>
                <a:gridCol w="251460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Competitor</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Pricing</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Positioning</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Our Advantage</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Intelligent Change (Five Minute Journal)</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$29-35 per journal</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Simple gratitude focus, mass market appe...</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Generic design, limited mindfulness guid...</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Hendrike Design Journals</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$25-45 per journal</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Aesthetic focus, lifestyle branding</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Limited structured mindfulness content, ...</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000" dirty="0">
                          <a:solidFill>
                            <a:srgbClr val="1E293B"/>
                          </a:solidFill>
                          <a:latin typeface="Arial" pitchFamily="34" charset="0"/>
                          <a:ea typeface="Arial" pitchFamily="34" charset="-122"/>
                          <a:cs typeface="Arial" pitchFamily="34" charset="-120"/>
                        </a:rPr>
                        <a:t>Local Cincinnati Wellness Centers</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$40-60 per MBSR session</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Professional therapy and structured prog...</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E293B"/>
                          </a:solidFill>
                          <a:latin typeface="Arial" pitchFamily="34" charset="0"/>
                          <a:ea typeface="Arial" pitchFamily="34" charset="-122"/>
                          <a:cs typeface="Arial" pitchFamily="34" charset="-120"/>
                        </a:rPr>
                        <a:t>No take-home products, high ongoing cost...</a:t>
                      </a:r>
                      <a:endParaRPr lang="en-US" sz="10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5" name="Shape 2"/>
          <p:cNvSpPr/>
          <p:nvPr/>
        </p:nvSpPr>
        <p:spPr>
          <a:xfrm>
            <a:off x="457200" y="3474720"/>
            <a:ext cx="8229600" cy="1097280"/>
          </a:xfrm>
          <a:prstGeom prst="roundRect">
            <a:avLst>
              <a:gd name="adj" fmla="val 8333"/>
            </a:avLst>
          </a:prstGeom>
          <a:solidFill>
            <a:srgbClr val="D1D5DB"/>
          </a:solidFill>
          <a:ln/>
        </p:spPr>
      </p:sp>
      <p:sp>
        <p:nvSpPr>
          <p:cNvPr id="6" name="Text 3"/>
          <p:cNvSpPr/>
          <p:nvPr/>
        </p:nvSpPr>
        <p:spPr>
          <a:xfrm>
            <a:off x="731520" y="3749040"/>
            <a:ext cx="7680960" cy="0"/>
          </a:xfrm>
          <a:prstGeom prst="rect">
            <a:avLst/>
          </a:prstGeom>
          <a:noFill/>
          <a:ln/>
        </p:spPr>
        <p:txBody>
          <a:bodyPr wrap="square"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We're the Your design skills create visually stunning products that stand out from generic wellness journals, while your marketing expertise builds authentic brand connection. for Health-conscious millennials and Gen X professionals, primarily women aged 25-45, who want to reduce stress and improve mental well-being but struggle with consistency in wellness practices.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74151"/>
          </a:solidFill>
          <a:ln/>
        </p:spPr>
      </p:sp>
      <p:sp>
        <p:nvSpPr>
          <p:cNvPr id="3" name="Text 1"/>
          <p:cNvSpPr/>
          <p:nvPr/>
        </p:nvSpPr>
        <p:spPr>
          <a:xfrm>
            <a:off x="457200" y="274320"/>
            <a:ext cx="6858000" cy="0"/>
          </a:xfrm>
          <a:prstGeom prst="rect">
            <a:avLst/>
          </a:prstGeom>
          <a:noFill/>
          <a:ln/>
        </p:spPr>
        <p:txBody>
          <a:bodyPr wrap="square" rtlCol="0" anchor="ctr"/>
          <a:lstStyle/>
          <a:p>
            <a:pPr indent="0" marL="0">
              <a:buNone/>
            </a:pPr>
            <a:r>
              <a:rPr lang="en-US" sz="2800" b="1" dirty="0">
                <a:solidFill>
                  <a:srgbClr val="374151"/>
                </a:solidFill>
                <a:latin typeface="Arial" pitchFamily="34" charset="0"/>
                <a:ea typeface="Arial" pitchFamily="34" charset="-122"/>
                <a:cs typeface="Arial" pitchFamily="34" charset="-120"/>
              </a:rPr>
              <a:t>Financial Projections</a:t>
            </a:r>
            <a:endParaRPr lang="en-US" sz="2800" dirty="0"/>
          </a:p>
        </p:txBody>
      </p:sp>
      <p:sp>
        <p:nvSpPr>
          <p:cNvPr id="4" name="Shape 2"/>
          <p:cNvSpPr/>
          <p:nvPr/>
        </p:nvSpPr>
        <p:spPr>
          <a:xfrm>
            <a:off x="457200" y="1188720"/>
            <a:ext cx="2286000" cy="1280160"/>
          </a:xfrm>
          <a:prstGeom prst="roundRect">
            <a:avLst>
              <a:gd name="adj" fmla="val 7143"/>
            </a:avLst>
          </a:prstGeom>
          <a:solidFill>
            <a:srgbClr val="374151"/>
          </a:solidFill>
          <a:ln/>
        </p:spPr>
      </p:sp>
      <p:sp>
        <p:nvSpPr>
          <p:cNvPr id="5" name="Text 3"/>
          <p:cNvSpPr/>
          <p:nvPr/>
        </p:nvSpPr>
        <p:spPr>
          <a:xfrm>
            <a:off x="457200" y="1280160"/>
            <a:ext cx="2286000" cy="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Startup Cost</a:t>
            </a:r>
            <a:endParaRPr lang="en-US" sz="1000" dirty="0"/>
          </a:p>
        </p:txBody>
      </p:sp>
      <p:sp>
        <p:nvSpPr>
          <p:cNvPr id="6" name="Text 4"/>
          <p:cNvSpPr/>
          <p:nvPr/>
        </p:nvSpPr>
        <p:spPr>
          <a:xfrm>
            <a:off x="457200" y="1554480"/>
            <a:ext cx="2286000" cy="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$5K</a:t>
            </a:r>
            <a:endParaRPr lang="en-US" sz="3200" dirty="0"/>
          </a:p>
        </p:txBody>
      </p:sp>
      <p:sp>
        <p:nvSpPr>
          <p:cNvPr id="7" name="Shape 5"/>
          <p:cNvSpPr/>
          <p:nvPr/>
        </p:nvSpPr>
        <p:spPr>
          <a:xfrm>
            <a:off x="2926080" y="1188720"/>
            <a:ext cx="2286000" cy="1280160"/>
          </a:xfrm>
          <a:prstGeom prst="roundRect">
            <a:avLst>
              <a:gd name="adj" fmla="val 7143"/>
            </a:avLst>
          </a:prstGeom>
          <a:solidFill>
            <a:srgbClr val="4B5563"/>
          </a:solidFill>
          <a:ln/>
        </p:spPr>
      </p:sp>
      <p:sp>
        <p:nvSpPr>
          <p:cNvPr id="8" name="Text 6"/>
          <p:cNvSpPr/>
          <p:nvPr/>
        </p:nvSpPr>
        <p:spPr>
          <a:xfrm>
            <a:off x="2926080" y="1280160"/>
            <a:ext cx="2286000" cy="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Monthly Costs</a:t>
            </a:r>
            <a:endParaRPr lang="en-US" sz="1000" dirty="0"/>
          </a:p>
        </p:txBody>
      </p:sp>
      <p:sp>
        <p:nvSpPr>
          <p:cNvPr id="9" name="Text 7"/>
          <p:cNvSpPr/>
          <p:nvPr/>
        </p:nvSpPr>
        <p:spPr>
          <a:xfrm>
            <a:off x="2926080" y="1554480"/>
            <a:ext cx="2286000" cy="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$2K</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5029200" cy="914400"/>
        </p:xfrm>
        <a:graphic>
          <a:graphicData uri="http://schemas.openxmlformats.org/drawingml/2006/table">
            <a:tbl>
              <a:tblPr/>
              <a:tblGrid>
                <a:gridCol w="1371600"/>
                <a:gridCol w="1371600"/>
                <a:gridCol w="1188720"/>
                <a:gridCol w="10972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Scenario</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Monthly Revenue</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Monthly Profit</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Break-Even</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74151"/>
                    </a:solidFill>
                  </a:tcPr>
                </a:tc>
              </a:tr>
              <a:tr h="0">
                <a:tc>
                  <a:txBody>
                    <a:bodyPr/>
                    <a:lstStyle/>
                    <a:p>
                      <a:pPr indent="0" marL="0">
                        <a:buNone/>
                      </a:pPr>
                      <a:r>
                        <a:rPr lang="en-US" sz="1100" dirty="0">
                          <a:solidFill>
                            <a:srgbClr val="1E293B"/>
                          </a:solidFill>
                          <a:latin typeface="Arial" pitchFamily="34" charset="0"/>
                          <a:ea typeface="Arial" pitchFamily="34" charset="-122"/>
                          <a:cs typeface="Arial" pitchFamily="34" charset="-120"/>
                        </a:rPr>
                        <a:t>Conservative</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$1K</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$-1045</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Month 12</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100" b="1" dirty="0">
                          <a:solidFill>
                            <a:srgbClr val="1E293B"/>
                          </a:solidFill>
                          <a:latin typeface="Arial" pitchFamily="34" charset="0"/>
                          <a:ea typeface="Arial" pitchFamily="34" charset="-122"/>
                          <a:cs typeface="Arial" pitchFamily="34" charset="-120"/>
                        </a:rPr>
                        <a:t>Moderate</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E293B"/>
                          </a:solidFill>
                          <a:latin typeface="Arial" pitchFamily="34" charset="0"/>
                          <a:ea typeface="Arial" pitchFamily="34" charset="-122"/>
                          <a:cs typeface="Arial" pitchFamily="34" charset="-120"/>
                        </a:rPr>
                        <a:t>$2K</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E293B"/>
                          </a:solidFill>
                          <a:latin typeface="Arial" pitchFamily="34" charset="0"/>
                          <a:ea typeface="Arial" pitchFamily="34" charset="-122"/>
                          <a:cs typeface="Arial" pitchFamily="34" charset="-120"/>
                        </a:rPr>
                        <a:t>$110</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b="1" dirty="0">
                          <a:solidFill>
                            <a:srgbClr val="1E293B"/>
                          </a:solidFill>
                          <a:latin typeface="Arial" pitchFamily="34" charset="0"/>
                          <a:ea typeface="Arial" pitchFamily="34" charset="-122"/>
                          <a:cs typeface="Arial" pitchFamily="34" charset="-120"/>
                        </a:rPr>
                        <a:t>Month 6</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indent="0" marL="0">
                        <a:buNone/>
                      </a:pPr>
                      <a:r>
                        <a:rPr lang="en-US" sz="1100" dirty="0">
                          <a:solidFill>
                            <a:srgbClr val="1E293B"/>
                          </a:solidFill>
                          <a:latin typeface="Arial" pitchFamily="34" charset="0"/>
                          <a:ea typeface="Arial" pitchFamily="34" charset="-122"/>
                          <a:cs typeface="Arial" pitchFamily="34" charset="-120"/>
                        </a:rPr>
                        <a:t>Aggressive</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$5K</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$3K</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E293B"/>
                          </a:solidFill>
                          <a:latin typeface="Arial" pitchFamily="34" charset="0"/>
                          <a:ea typeface="Arial" pitchFamily="34" charset="-122"/>
                          <a:cs typeface="Arial" pitchFamily="34" charset="-120"/>
                        </a:rPr>
                        <a:t>Month 3</a:t>
                      </a:r>
                      <a:endParaRPr lang="en-US" sz="1100" dirty="0">
                        <a:latin typeface="Arial" charset="0"/>
                        <a:ea typeface="Arial" charset="0"/>
                        <a:cs typeface="Arial"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1" name="Shape 8"/>
          <p:cNvSpPr/>
          <p:nvPr/>
        </p:nvSpPr>
        <p:spPr>
          <a:xfrm>
            <a:off x="5943600" y="1188720"/>
            <a:ext cx="2743200" cy="2560320"/>
          </a:xfrm>
          <a:prstGeom prst="roundRect">
            <a:avLst>
              <a:gd name="adj" fmla="val 3571"/>
            </a:avLst>
          </a:prstGeom>
          <a:solidFill>
            <a:srgbClr val="D1D5DB"/>
          </a:solidFill>
          <a:ln/>
        </p:spPr>
      </p:sp>
      <p:sp>
        <p:nvSpPr>
          <p:cNvPr id="12" name="Text 9"/>
          <p:cNvSpPr/>
          <p:nvPr/>
        </p:nvSpPr>
        <p:spPr>
          <a:xfrm>
            <a:off x="5943600" y="1371600"/>
            <a:ext cx="2743200" cy="0"/>
          </a:xfrm>
          <a:prstGeom prst="rect">
            <a:avLst/>
          </a:prstGeom>
          <a:noFill/>
          <a:ln/>
        </p:spPr>
        <p:txBody>
          <a:bodyPr wrap="square" rtlCol="0" anchor="ctr"/>
          <a:lstStyle/>
          <a:p>
            <a:pPr algn="ctr" indent="0" marL="0">
              <a:buNone/>
            </a:pPr>
            <a:r>
              <a:rPr lang="en-US" sz="1100" dirty="0">
                <a:solidFill>
                  <a:srgbClr val="1E293B"/>
                </a:solidFill>
                <a:latin typeface="Arial" pitchFamily="34" charset="0"/>
                <a:ea typeface="Arial" pitchFamily="34" charset="-122"/>
                <a:cs typeface="Arial" pitchFamily="34" charset="-120"/>
              </a:rPr>
              <a:t>Projected Annual Revenue</a:t>
            </a:r>
            <a:endParaRPr lang="en-US" sz="1100" dirty="0"/>
          </a:p>
        </p:txBody>
      </p:sp>
      <p:sp>
        <p:nvSpPr>
          <p:cNvPr id="13" name="Text 10"/>
          <p:cNvSpPr/>
          <p:nvPr/>
        </p:nvSpPr>
        <p:spPr>
          <a:xfrm>
            <a:off x="5943600" y="1828800"/>
            <a:ext cx="2743200" cy="0"/>
          </a:xfrm>
          <a:prstGeom prst="rect">
            <a:avLst/>
          </a:prstGeom>
          <a:noFill/>
          <a:ln/>
        </p:spPr>
        <p:txBody>
          <a:bodyPr wrap="square" rtlCol="0" anchor="ctr"/>
          <a:lstStyle/>
          <a:p>
            <a:pPr algn="ctr" indent="0" marL="0">
              <a:buNone/>
            </a:pPr>
            <a:r>
              <a:rPr lang="en-US" sz="3600" b="1" dirty="0">
                <a:solidFill>
                  <a:srgbClr val="374151"/>
                </a:solidFill>
                <a:latin typeface="Arial" pitchFamily="34" charset="0"/>
                <a:ea typeface="Arial" pitchFamily="34" charset="-122"/>
                <a:cs typeface="Arial" pitchFamily="34" charset="-120"/>
              </a:rPr>
              <a:t>$27K</a:t>
            </a:r>
            <a:endParaRPr lang="en-US" sz="3600" dirty="0"/>
          </a:p>
        </p:txBody>
      </p:sp>
      <p:sp>
        <p:nvSpPr>
          <p:cNvPr id="14" name="Text 11"/>
          <p:cNvSpPr/>
          <p:nvPr/>
        </p:nvSpPr>
        <p:spPr>
          <a:xfrm>
            <a:off x="5943600" y="2560320"/>
            <a:ext cx="2743200" cy="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(Moderate Scenario)</a:t>
            </a:r>
            <a:endParaRPr lang="en-US" sz="1000" dirty="0"/>
          </a:p>
        </p:txBody>
      </p:sp>
      <p:sp>
        <p:nvSpPr>
          <p:cNvPr id="15" name="Text 12"/>
          <p:cNvSpPr/>
          <p:nvPr/>
        </p:nvSpPr>
        <p:spPr>
          <a:xfrm>
            <a:off x="5943600" y="3017520"/>
            <a:ext cx="2743200" cy="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Break-even: You need about 62 customers per month to break even, which means 2 sales per day. With weekend-only commitment, expect 12-18 months to reach this consistently.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59E0B"/>
          </a:solidFill>
          <a:ln/>
        </p:spPr>
      </p:sp>
      <p:sp>
        <p:nvSpPr>
          <p:cNvPr id="3" name="Text 1"/>
          <p:cNvSpPr/>
          <p:nvPr/>
        </p:nvSpPr>
        <p:spPr>
          <a:xfrm>
            <a:off x="457200" y="365760"/>
            <a:ext cx="6858000" cy="0"/>
          </a:xfrm>
          <a:prstGeom prst="rect">
            <a:avLst/>
          </a:prstGeom>
          <a:noFill/>
          <a:ln/>
        </p:spPr>
        <p:txBody>
          <a:bodyPr wrap="square" rtlCol="0" anchor="ctr"/>
          <a:lstStyle/>
          <a:p>
            <a:pPr indent="0" marL="0">
              <a:buNone/>
            </a:pPr>
            <a:r>
              <a:rPr lang="en-US" sz="3200" b="1" dirty="0">
                <a:solidFill>
                  <a:srgbClr val="F59E0B"/>
                </a:solidFill>
                <a:latin typeface="Arial" pitchFamily="34" charset="0"/>
                <a:ea typeface="Arial" pitchFamily="34" charset="-122"/>
                <a:cs typeface="Arial" pitchFamily="34" charset="-120"/>
              </a:rPr>
              <a:t>Next Steps</a:t>
            </a:r>
            <a:endParaRPr lang="en-US" sz="3200" dirty="0"/>
          </a:p>
        </p:txBody>
      </p:sp>
      <p:sp>
        <p:nvSpPr>
          <p:cNvPr id="4" name="Text 2"/>
          <p:cNvSpPr/>
          <p:nvPr/>
        </p:nvSpPr>
        <p:spPr>
          <a:xfrm>
            <a:off x="457200" y="1005840"/>
            <a:ext cx="6858000" cy="0"/>
          </a:xfrm>
          <a:prstGeom prst="rect">
            <a:avLst/>
          </a:prstGeom>
          <a:noFill/>
          <a:ln/>
        </p:spPr>
        <p:txBody>
          <a:bodyPr wrap="square" rtlCol="0" anchor="ctr"/>
          <a:lstStyle/>
          <a:p>
            <a:pPr indent="0" marL="0">
              <a:buNone/>
            </a:pPr>
            <a:r>
              <a:rPr lang="en-US" sz="1400" b="1" dirty="0">
                <a:solidFill>
                  <a:srgbClr val="A8A8A8"/>
                </a:solidFill>
                <a:latin typeface="Arial" pitchFamily="34" charset="0"/>
                <a:ea typeface="Arial" pitchFamily="34" charset="-122"/>
                <a:cs typeface="Arial" pitchFamily="34" charset="-120"/>
              </a:rPr>
              <a:t>What We Need to Launch</a:t>
            </a:r>
            <a:endParaRPr lang="en-US" sz="1400" dirty="0"/>
          </a:p>
        </p:txBody>
      </p:sp>
      <p:sp>
        <p:nvSpPr>
          <p:cNvPr id="5" name="Text 3"/>
          <p:cNvSpPr/>
          <p:nvPr/>
        </p:nvSpPr>
        <p:spPr>
          <a:xfrm>
            <a:off x="457200" y="1280160"/>
            <a:ext cx="4572000" cy="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Starting capital: $5K</a:t>
            </a:r>
            <a:endParaRPr lang="en-US" sz="1400" dirty="0"/>
          </a:p>
        </p:txBody>
      </p:sp>
      <p:sp>
        <p:nvSpPr>
          <p:cNvPr id="6" name="Text 4"/>
          <p:cNvSpPr/>
          <p:nvPr/>
        </p:nvSpPr>
        <p:spPr>
          <a:xfrm>
            <a:off x="457200" y="1600200"/>
            <a:ext cx="4572000" cy="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Location/space (if applicable)</a:t>
            </a:r>
            <a:endParaRPr lang="en-US" sz="1400" dirty="0"/>
          </a:p>
        </p:txBody>
      </p:sp>
      <p:sp>
        <p:nvSpPr>
          <p:cNvPr id="7" name="Text 5"/>
          <p:cNvSpPr/>
          <p:nvPr/>
        </p:nvSpPr>
        <p:spPr>
          <a:xfrm>
            <a:off x="457200" y="1920240"/>
            <a:ext cx="4572000" cy="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Strategic partnerships</a:t>
            </a:r>
            <a:endParaRPr lang="en-US" sz="1400" dirty="0"/>
          </a:p>
        </p:txBody>
      </p:sp>
      <p:sp>
        <p:nvSpPr>
          <p:cNvPr id="8" name="Text 6"/>
          <p:cNvSpPr/>
          <p:nvPr/>
        </p:nvSpPr>
        <p:spPr>
          <a:xfrm>
            <a:off x="457200" y="2560320"/>
            <a:ext cx="6858000" cy="0"/>
          </a:xfrm>
          <a:prstGeom prst="rect">
            <a:avLst/>
          </a:prstGeom>
          <a:noFill/>
          <a:ln/>
        </p:spPr>
        <p:txBody>
          <a:bodyPr wrap="square" rtlCol="0" anchor="ctr"/>
          <a:lstStyle/>
          <a:p>
            <a:pPr indent="0" marL="0">
              <a:buNone/>
            </a:pPr>
            <a:r>
              <a:rPr lang="en-US" sz="1400" b="1" dirty="0">
                <a:solidFill>
                  <a:srgbClr val="A8A8A8"/>
                </a:solidFill>
                <a:latin typeface="Arial" pitchFamily="34" charset="0"/>
                <a:ea typeface="Arial" pitchFamily="34" charset="-122"/>
                <a:cs typeface="Arial" pitchFamily="34" charset="-120"/>
              </a:rPr>
              <a:t>4-Week Launch Timeline</a:t>
            </a:r>
            <a:endParaRPr lang="en-US" sz="1400" dirty="0"/>
          </a:p>
        </p:txBody>
      </p:sp>
      <p:sp>
        <p:nvSpPr>
          <p:cNvPr id="9" name="Shape 7"/>
          <p:cNvSpPr/>
          <p:nvPr/>
        </p:nvSpPr>
        <p:spPr>
          <a:xfrm>
            <a:off x="457200" y="2834640"/>
            <a:ext cx="1920240" cy="1005840"/>
          </a:xfrm>
          <a:prstGeom prst="roundRect">
            <a:avLst>
              <a:gd name="adj" fmla="val 4545"/>
            </a:avLst>
          </a:prstGeom>
          <a:solidFill>
            <a:srgbClr val="F59E0B"/>
          </a:solidFill>
          <a:ln/>
        </p:spPr>
      </p:sp>
      <p:sp>
        <p:nvSpPr>
          <p:cNvPr id="10" name="Text 8"/>
          <p:cNvSpPr/>
          <p:nvPr/>
        </p:nvSpPr>
        <p:spPr>
          <a:xfrm>
            <a:off x="457200" y="2926080"/>
            <a:ext cx="1920240" cy="0"/>
          </a:xfrm>
          <a:prstGeom prst="rect">
            <a:avLst/>
          </a:prstGeom>
          <a:noFill/>
          <a:ln/>
        </p:spPr>
        <p:txBody>
          <a:bodyPr wrap="square" rtlCol="0" anchor="ctr"/>
          <a:lstStyle/>
          <a:p>
            <a:pPr algn="ctr" indent="0" marL="0">
              <a:buNone/>
            </a:pPr>
            <a:r>
              <a:rPr lang="en-US" sz="1000" b="1" dirty="0">
                <a:solidFill>
                  <a:srgbClr val="1C1412"/>
                </a:solidFill>
                <a:latin typeface="Arial" pitchFamily="34" charset="0"/>
                <a:ea typeface="Arial" pitchFamily="34" charset="-122"/>
                <a:cs typeface="Arial" pitchFamily="34" charset="-120"/>
              </a:rPr>
              <a:t>Week 1</a:t>
            </a:r>
            <a:endParaRPr lang="en-US" sz="1000" dirty="0"/>
          </a:p>
        </p:txBody>
      </p:sp>
      <p:sp>
        <p:nvSpPr>
          <p:cNvPr id="11" name="Text 9"/>
          <p:cNvSpPr/>
          <p:nvPr/>
        </p:nvSpPr>
        <p:spPr>
          <a:xfrm>
            <a:off x="502920" y="3200400"/>
            <a:ext cx="1828800" cy="0"/>
          </a:xfrm>
          <a:prstGeom prst="rect">
            <a:avLst/>
          </a:prstGeom>
          <a:noFill/>
          <a:ln/>
        </p:spPr>
        <p:txBody>
          <a:bodyPr wrap="square" rtlCol="0" anchor="ctr"/>
          <a:lstStyle/>
          <a:p>
            <a:pPr algn="ctr" indent="0" marL="0">
              <a:buNone/>
            </a:pPr>
            <a:r>
              <a:rPr lang="en-US" sz="900" dirty="0">
                <a:solidFill>
                  <a:srgbClr val="1C1412"/>
                </a:solidFill>
                <a:latin typeface="Arial" pitchFamily="34" charset="0"/>
                <a:ea typeface="Arial" pitchFamily="34" charset="-122"/>
                <a:cs typeface="Arial" pitchFamily="34" charset="-120"/>
              </a:rPr>
              <a:t>Foundation</a:t>
            </a:r>
            <a:endParaRPr lang="en-US" sz="900" dirty="0"/>
          </a:p>
        </p:txBody>
      </p:sp>
      <p:sp>
        <p:nvSpPr>
          <p:cNvPr id="12" name="Shape 10"/>
          <p:cNvSpPr/>
          <p:nvPr/>
        </p:nvSpPr>
        <p:spPr>
          <a:xfrm>
            <a:off x="2560320" y="2834640"/>
            <a:ext cx="1920240" cy="1005840"/>
          </a:xfrm>
          <a:prstGeom prst="roundRect">
            <a:avLst>
              <a:gd name="adj" fmla="val 4545"/>
            </a:avLst>
          </a:prstGeom>
          <a:solidFill>
            <a:srgbClr val="3D3D3D"/>
          </a:solidFill>
          <a:ln/>
        </p:spPr>
      </p:sp>
      <p:sp>
        <p:nvSpPr>
          <p:cNvPr id="13" name="Text 11"/>
          <p:cNvSpPr/>
          <p:nvPr/>
        </p:nvSpPr>
        <p:spPr>
          <a:xfrm>
            <a:off x="2560320" y="2926080"/>
            <a:ext cx="1920240" cy="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2</a:t>
            </a:r>
            <a:endParaRPr lang="en-US" sz="1000" dirty="0"/>
          </a:p>
        </p:txBody>
      </p:sp>
      <p:sp>
        <p:nvSpPr>
          <p:cNvPr id="14" name="Text 12"/>
          <p:cNvSpPr/>
          <p:nvPr/>
        </p:nvSpPr>
        <p:spPr>
          <a:xfrm>
            <a:off x="2606040" y="3200400"/>
            <a:ext cx="1828800" cy="0"/>
          </a:xfrm>
          <a:prstGeom prst="rect">
            <a:avLst/>
          </a:prstGeom>
          <a:noFill/>
          <a:ln/>
        </p:spPr>
        <p:txBody>
          <a:bodyPr wrap="square" rtlCol="0" anchor="ctr"/>
          <a:lstStyle/>
          <a:p>
            <a:pPr algn="ctr" indent="0" marL="0">
              <a:buNone/>
            </a:pPr>
            <a:r>
              <a:rPr lang="en-US" sz="900" dirty="0">
                <a:solidFill>
                  <a:srgbClr val="A8A8A8"/>
                </a:solidFill>
                <a:latin typeface="Arial" pitchFamily="34" charset="0"/>
                <a:ea typeface="Arial" pitchFamily="34" charset="-122"/>
                <a:cs typeface="Arial" pitchFamily="34" charset="-120"/>
              </a:rPr>
              <a:t>Setup</a:t>
            </a:r>
            <a:endParaRPr lang="en-US" sz="900" dirty="0"/>
          </a:p>
        </p:txBody>
      </p:sp>
      <p:sp>
        <p:nvSpPr>
          <p:cNvPr id="15" name="Shape 13"/>
          <p:cNvSpPr/>
          <p:nvPr/>
        </p:nvSpPr>
        <p:spPr>
          <a:xfrm>
            <a:off x="4663440" y="2834640"/>
            <a:ext cx="1920240" cy="1005840"/>
          </a:xfrm>
          <a:prstGeom prst="roundRect">
            <a:avLst>
              <a:gd name="adj" fmla="val 4545"/>
            </a:avLst>
          </a:prstGeom>
          <a:solidFill>
            <a:srgbClr val="3D3D3D"/>
          </a:solidFill>
          <a:ln/>
        </p:spPr>
      </p:sp>
      <p:sp>
        <p:nvSpPr>
          <p:cNvPr id="16" name="Text 14"/>
          <p:cNvSpPr/>
          <p:nvPr/>
        </p:nvSpPr>
        <p:spPr>
          <a:xfrm>
            <a:off x="4663440" y="2926080"/>
            <a:ext cx="1920240" cy="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3</a:t>
            </a:r>
            <a:endParaRPr lang="en-US" sz="1000" dirty="0"/>
          </a:p>
        </p:txBody>
      </p:sp>
      <p:sp>
        <p:nvSpPr>
          <p:cNvPr id="17" name="Text 15"/>
          <p:cNvSpPr/>
          <p:nvPr/>
        </p:nvSpPr>
        <p:spPr>
          <a:xfrm>
            <a:off x="4709160" y="3200400"/>
            <a:ext cx="1828800" cy="0"/>
          </a:xfrm>
          <a:prstGeom prst="rect">
            <a:avLst/>
          </a:prstGeom>
          <a:noFill/>
          <a:ln/>
        </p:spPr>
        <p:txBody>
          <a:bodyPr wrap="square" rtlCol="0" anchor="ctr"/>
          <a:lstStyle/>
          <a:p>
            <a:pPr algn="ctr" indent="0" marL="0">
              <a:buNone/>
            </a:pPr>
            <a:r>
              <a:rPr lang="en-US" sz="900" dirty="0">
                <a:solidFill>
                  <a:srgbClr val="A8A8A8"/>
                </a:solidFill>
                <a:latin typeface="Arial" pitchFamily="34" charset="0"/>
                <a:ea typeface="Arial" pitchFamily="34" charset="-122"/>
                <a:cs typeface="Arial" pitchFamily="34" charset="-120"/>
              </a:rPr>
              <a:t>Build</a:t>
            </a:r>
            <a:endParaRPr lang="en-US" sz="900" dirty="0"/>
          </a:p>
        </p:txBody>
      </p:sp>
      <p:sp>
        <p:nvSpPr>
          <p:cNvPr id="18" name="Shape 16"/>
          <p:cNvSpPr/>
          <p:nvPr/>
        </p:nvSpPr>
        <p:spPr>
          <a:xfrm>
            <a:off x="6766560" y="2834640"/>
            <a:ext cx="1920240" cy="1005840"/>
          </a:xfrm>
          <a:prstGeom prst="roundRect">
            <a:avLst>
              <a:gd name="adj" fmla="val 4545"/>
            </a:avLst>
          </a:prstGeom>
          <a:solidFill>
            <a:srgbClr val="3D3D3D"/>
          </a:solidFill>
          <a:ln/>
        </p:spPr>
      </p:sp>
      <p:sp>
        <p:nvSpPr>
          <p:cNvPr id="19" name="Text 17"/>
          <p:cNvSpPr/>
          <p:nvPr/>
        </p:nvSpPr>
        <p:spPr>
          <a:xfrm>
            <a:off x="6766560" y="2926080"/>
            <a:ext cx="1920240" cy="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 4</a:t>
            </a:r>
            <a:endParaRPr lang="en-US" sz="1000" dirty="0"/>
          </a:p>
        </p:txBody>
      </p:sp>
      <p:sp>
        <p:nvSpPr>
          <p:cNvPr id="20" name="Text 18"/>
          <p:cNvSpPr/>
          <p:nvPr/>
        </p:nvSpPr>
        <p:spPr>
          <a:xfrm>
            <a:off x="6812280" y="3200400"/>
            <a:ext cx="1828800" cy="0"/>
          </a:xfrm>
          <a:prstGeom prst="rect">
            <a:avLst/>
          </a:prstGeom>
          <a:noFill/>
          <a:ln/>
        </p:spPr>
        <p:txBody>
          <a:bodyPr wrap="square" rtlCol="0" anchor="ctr"/>
          <a:lstStyle/>
          <a:p>
            <a:pPr algn="ctr" indent="0" marL="0">
              <a:buNone/>
            </a:pPr>
            <a:r>
              <a:rPr lang="en-US" sz="900" dirty="0">
                <a:solidFill>
                  <a:srgbClr val="A8A8A8"/>
                </a:solidFill>
                <a:latin typeface="Arial" pitchFamily="34" charset="0"/>
                <a:ea typeface="Arial" pitchFamily="34" charset="-122"/>
                <a:cs typeface="Arial" pitchFamily="34" charset="-120"/>
              </a:rPr>
              <a:t>Launch</a:t>
            </a:r>
            <a:endParaRPr lang="en-US" sz="900" dirty="0"/>
          </a:p>
        </p:txBody>
      </p:sp>
      <p:sp>
        <p:nvSpPr>
          <p:cNvPr id="21" name="Text 19"/>
          <p:cNvSpPr/>
          <p:nvPr/>
        </p:nvSpPr>
        <p:spPr>
          <a:xfrm>
            <a:off x="457200" y="4114800"/>
            <a:ext cx="6858000" cy="0"/>
          </a:xfrm>
          <a:prstGeom prst="rect">
            <a:avLst/>
          </a:prstGeom>
          <a:noFill/>
          <a:ln/>
        </p:spPr>
        <p:txBody>
          <a:bodyPr wrap="square" rtlCol="0" anchor="ctr"/>
          <a:lstStyle/>
          <a:p>
            <a:pPr indent="0" marL="0">
              <a:buNone/>
            </a:pPr>
            <a:r>
              <a:rPr lang="en-US" sz="2400" b="1" dirty="0">
                <a:solidFill>
                  <a:srgbClr val="F59E0B"/>
                </a:solidFill>
                <a:latin typeface="Arial" pitchFamily="34" charset="0"/>
                <a:ea typeface="Arial" pitchFamily="34" charset="-122"/>
                <a:cs typeface="Arial" pitchFamily="34" charset="-120"/>
              </a:rPr>
              <a:t>Let's build this together.</a:t>
            </a:r>
            <a:endParaRPr lang="en-US" sz="2400" dirty="0"/>
          </a:p>
        </p:txBody>
      </p:sp>
      <p:sp>
        <p:nvSpPr>
          <p:cNvPr id="22" name="Text 20"/>
          <p:cNvSpPr/>
          <p:nvPr/>
        </p:nvSpPr>
        <p:spPr>
          <a:xfrm>
            <a:off x="457200" y="4572000"/>
            <a:ext cx="6858000" cy="0"/>
          </a:xfrm>
          <a:prstGeom prst="rect">
            <a:avLst/>
          </a:prstGeom>
          <a:noFill/>
          <a:ln/>
        </p:spPr>
        <p:txBody>
          <a:bodyPr wrap="square" rtlCol="0" anchor="ctr"/>
          <a:lstStyle/>
          <a:p>
            <a:pPr indent="0" marL="0">
              <a:buNone/>
            </a:pPr>
            <a:r>
              <a:rPr lang="en-US" sz="1400" dirty="0">
                <a:solidFill>
                  <a:srgbClr val="A8A8A8"/>
                </a:solidFill>
                <a:latin typeface="Arial" pitchFamily="34" charset="0"/>
                <a:ea typeface="Arial" pitchFamily="34" charset="-122"/>
                <a:cs typeface="Arial" pitchFamily="34" charset="-120"/>
              </a:rPr>
              <a:t>Mindful Moments Journals</a:t>
            </a:r>
            <a:endParaRPr lang="en-US" sz="1400" dirty="0"/>
          </a:p>
        </p:txBody>
      </p:sp>
      <p:sp>
        <p:nvSpPr>
          <p:cNvPr id="23" name="Text 21"/>
          <p:cNvSpPr/>
          <p:nvPr/>
        </p:nvSpPr>
        <p:spPr>
          <a:xfrm>
            <a:off x="6858000" y="4663440"/>
            <a:ext cx="6858000" cy="0"/>
          </a:xfrm>
          <a:prstGeom prst="rect">
            <a:avLst/>
          </a:prstGeom>
          <a:noFill/>
          <a:ln/>
        </p:spPr>
        <p:txBody>
          <a:bodyPr wrap="square" rtlCol="0" anchor="ctr"/>
          <a:lstStyle/>
          <a:p>
            <a:pPr indent="0" marL="0">
              <a:buNone/>
            </a:pPr>
            <a:r>
              <a:rPr lang="en-US" sz="800" dirty="0">
                <a:solidFill>
                  <a:srgbClr val="666666"/>
                </a:solidFill>
                <a:latin typeface="Arial" pitchFamily="34" charset="0"/>
                <a:ea typeface="Arial" pitchFamily="34" charset="-122"/>
                <a:cs typeface="Arial" pitchFamily="34" charset="-120"/>
              </a:rPr>
              <a:t>Built with SparkLocal.co</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Mindful Moments Journals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Mindful Moments Journals - Business Launch Plan</dc:title>
  <dc:subject>Business Launch Presentation</dc:subject>
  <dc:creator>SparkLocal</dc:creator>
  <cp:lastModifiedBy>SparkLocal</cp:lastModifiedBy>
  <cp:revision>1</cp:revision>
  <dcterms:created xsi:type="dcterms:W3CDTF">2026-02-24T04:01:05Z</dcterms:created>
  <dcterms:modified xsi:type="dcterms:W3CDTF">2026-02-24T04:01:05Z</dcterms:modified>
</cp:coreProperties>
</file>